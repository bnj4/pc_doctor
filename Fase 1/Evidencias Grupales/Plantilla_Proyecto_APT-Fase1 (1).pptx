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7">
  <p:sldMasterIdLst>
    <p:sldMasterId id="2147483676" r:id="rId4"/>
  </p:sldMasterIdLst>
  <p:notesMasterIdLst>
    <p:notesMasterId r:id="rId21"/>
  </p:notesMasterIdLst>
  <p:sldIdLst>
    <p:sldId id="256" r:id="rId5"/>
    <p:sldId id="594" r:id="rId6"/>
    <p:sldId id="602" r:id="rId7"/>
    <p:sldId id="595" r:id="rId8"/>
    <p:sldId id="603" r:id="rId9"/>
    <p:sldId id="597" r:id="rId10"/>
    <p:sldId id="604" r:id="rId11"/>
    <p:sldId id="598" r:id="rId12"/>
    <p:sldId id="605" r:id="rId13"/>
    <p:sldId id="599" r:id="rId14"/>
    <p:sldId id="606" r:id="rId15"/>
    <p:sldId id="600" r:id="rId16"/>
    <p:sldId id="607" r:id="rId17"/>
    <p:sldId id="601" r:id="rId18"/>
    <p:sldId id="608" r:id="rId19"/>
    <p:sldId id="348" r:id="rId20"/>
  </p:sldIdLst>
  <p:sldSz cx="9144000" cy="6858000" type="screen4x3"/>
  <p:notesSz cx="6858000" cy="9144000"/>
  <p:embeddedFontLst>
    <p:embeddedFont>
      <p:font typeface="Bebas Neue" panose="020B0606020202050201" pitchFamily="34" charset="0"/>
      <p:regular r:id="rId22"/>
    </p:embeddedFont>
    <p:embeddedFont>
      <p:font typeface="Franklin Gothic" panose="020B0604020202020204" charset="0"/>
      <p:regular r:id="rId23"/>
      <p:bold r:id="rId24"/>
      <p:italic r:id="rId25"/>
      <p:boldItalic r:id="rId26"/>
    </p:embeddedFont>
    <p:embeddedFont>
      <p:font typeface="Roboto Condensed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ctor Rodrigo Galaz Silva" initials="VRGS" lastIdx="1" clrIdx="0">
    <p:extLst>
      <p:ext uri="{19B8F6BF-5375-455C-9EA6-DF929625EA0E}">
        <p15:presenceInfo xmlns:p15="http://schemas.microsoft.com/office/powerpoint/2012/main" userId="Victor Rodrigo Galaz Sil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6" autoAdjust="0"/>
    <p:restoredTop sz="94608"/>
  </p:normalViewPr>
  <p:slideViewPr>
    <p:cSldViewPr snapToGrid="0" snapToObjects="1">
      <p:cViewPr varScale="1">
        <p:scale>
          <a:sx n="119" d="100"/>
          <a:sy n="119" d="100"/>
        </p:scale>
        <p:origin x="120" y="7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1447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63392f1e7f_0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63392f1e7f_0_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9570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63392f1e7f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63392f1e7f_0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7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userDrawn="1">
  <p:cSld name="TITLE"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-1" y="0"/>
            <a:ext cx="4629587" cy="6858000"/>
          </a:xfrm>
          <a:custGeom>
            <a:avLst/>
            <a:gdLst/>
            <a:ahLst/>
            <a:cxnLst/>
            <a:rect l="l" t="t" r="r" b="b"/>
            <a:pathLst>
              <a:path w="6172782" h="6858000" extrusionOk="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" y="11958"/>
            <a:ext cx="4518116" cy="6840855"/>
          </a:xfrm>
          <a:custGeom>
            <a:avLst/>
            <a:gdLst/>
            <a:ahLst/>
            <a:cxnLst/>
            <a:rect l="l" t="t" r="r" b="b"/>
            <a:pathLst>
              <a:path w="6024154" h="6858000" extrusionOk="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0123" y="212270"/>
            <a:ext cx="3748263" cy="5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5284700" y="5620875"/>
            <a:ext cx="3603900" cy="873900"/>
          </a:xfrm>
          <a:prstGeom prst="rect">
            <a:avLst/>
          </a:prstGeom>
          <a:solidFill>
            <a:srgbClr val="DE3075"/>
          </a:solidFill>
          <a:ln>
            <a:noFill/>
          </a:ln>
        </p:spPr>
        <p:txBody>
          <a:bodyPr spcFirstLastPara="1" wrap="square" lIns="91425" tIns="0" rIns="182875" bIns="0" anchor="t" anchorCtr="0">
            <a:noAutofit/>
          </a:bodyPr>
          <a:lstStyle>
            <a:lvl1pPr lvl="0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2pPr>
            <a:lvl3pPr lvl="2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3pPr>
            <a:lvl4pPr lvl="3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4pPr>
            <a:lvl5pPr lvl="4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5pPr>
            <a:lvl6pPr lvl="5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6pPr>
            <a:lvl7pPr lvl="6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7pPr>
            <a:lvl8pPr lvl="7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8pPr>
            <a:lvl9pPr lvl="8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13;p2">
            <a:extLst>
              <a:ext uri="{FF2B5EF4-FFF2-40B4-BE49-F238E27FC236}">
                <a16:creationId xmlns:a16="http://schemas.microsoft.com/office/drawing/2014/main" id="{64854533-8DCC-1C49-8946-547AD8D47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3775" y="2487700"/>
            <a:ext cx="4894800" cy="2891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6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>
            <a:endParaRPr lang="es-ES_tradnl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1">
  <p:cSld name="TITLE_4_1_1">
    <p:bg>
      <p:bgPr>
        <a:solidFill>
          <a:schemeClr val="dk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3"/>
          <p:cNvGrpSpPr/>
          <p:nvPr/>
        </p:nvGrpSpPr>
        <p:grpSpPr>
          <a:xfrm>
            <a:off x="0" y="-124"/>
            <a:ext cx="4853665" cy="5740374"/>
            <a:chOff x="0" y="-126"/>
            <a:chExt cx="4554438" cy="5386482"/>
          </a:xfrm>
        </p:grpSpPr>
        <p:sp>
          <p:nvSpPr>
            <p:cNvPr id="19" name="Google Shape;19;p3"/>
            <p:cNvSpPr/>
            <p:nvPr/>
          </p:nvSpPr>
          <p:spPr>
            <a:xfrm rot="10800000" flipH="1">
              <a:off x="0" y="-126"/>
              <a:ext cx="4554438" cy="5386482"/>
            </a:xfrm>
            <a:custGeom>
              <a:avLst/>
              <a:gdLst/>
              <a:ahLst/>
              <a:cxnLst/>
              <a:rect l="l" t="t" r="r" b="b"/>
              <a:pathLst>
                <a:path w="5389868" h="6374535" extrusionOk="0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" name="Google Shape;20;p3" descr="Una caricatura de una ciudad&#10;&#10;Descripción generada automáticamente"/>
            <p:cNvPicPr preferRelativeResize="0"/>
            <p:nvPr/>
          </p:nvPicPr>
          <p:blipFill rotWithShape="1">
            <a:blip r:embed="rId3">
              <a:alphaModFix/>
            </a:blip>
            <a:srcRect l="9870" r="6482"/>
            <a:stretch/>
          </p:blipFill>
          <p:spPr>
            <a:xfrm>
              <a:off x="1" y="-1"/>
              <a:ext cx="4423169" cy="5247982"/>
            </a:xfrm>
            <a:custGeom>
              <a:avLst/>
              <a:gdLst/>
              <a:ahLst/>
              <a:cxnLst/>
              <a:rect l="l" t="t" r="r" b="b"/>
              <a:pathLst>
                <a:path w="5234519" h="6210629" extrusionOk="0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29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5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5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5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5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5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5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5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5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5400"/>
            </a:lvl9pPr>
          </a:lstStyle>
          <a:p>
            <a:endParaRPr lang="es-ES_tradnl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preserve="1">
  <p:cSld name="Título y objetos 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name="adj" fmla="val 4531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ebas Neue" panose="020B0606020202050201" pitchFamily="34" charset="77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name="adj" fmla="val 45310"/>
            </a:avLst>
          </a:prstGeom>
          <a:solidFill>
            <a:srgbClr val="8189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lang="es-ES_tradnl" noProof="0" dirty="0"/>
          </a:p>
        </p:txBody>
      </p:sp>
      <p:pic>
        <p:nvPicPr>
          <p:cNvPr id="89" name="Google Shape;8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>
            <a:spLocks noGrp="1"/>
          </p:cNvSpPr>
          <p:nvPr>
            <p:ph type="body" idx="1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 lang="es-ES_tradnl" noProof="0" dirty="0"/>
          </a:p>
        </p:txBody>
      </p:sp>
      <p:sp>
        <p:nvSpPr>
          <p:cNvPr id="9" name="Google Shape;7;p1">
            <a:extLst>
              <a:ext uri="{FF2B5EF4-FFF2-40B4-BE49-F238E27FC236}">
                <a16:creationId xmlns:a16="http://schemas.microsoft.com/office/drawing/2014/main" id="{0B5789D4-A1BB-0442-8135-68C7C82B7CE3}"/>
              </a:ext>
            </a:extLst>
          </p:cNvPr>
          <p:cNvSpPr txBox="1">
            <a:spLocks/>
          </p:cNvSpPr>
          <p:nvPr userDrawn="1"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9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3" userDrawn="1">
  <p:cSld name="OBJECT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name="adj" fmla="val 45310"/>
            </a:avLst>
          </a:prstGeom>
          <a:solidFill>
            <a:srgbClr val="7027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 lang="es-ES_tradnl" noProof="0" dirty="0"/>
          </a:p>
        </p:txBody>
      </p:sp>
      <p:sp>
        <p:nvSpPr>
          <p:cNvPr id="9" name="Google Shape;84;p14">
            <a:extLst>
              <a:ext uri="{FF2B5EF4-FFF2-40B4-BE49-F238E27FC236}">
                <a16:creationId xmlns:a16="http://schemas.microsoft.com/office/drawing/2014/main" id="{BB89A5F1-01F7-AA47-B434-101A27DE7BC0}"/>
              </a:ext>
            </a:extLst>
          </p:cNvPr>
          <p:cNvSpPr/>
          <p:nvPr userDrawn="1"/>
        </p:nvSpPr>
        <p:spPr>
          <a:xfrm>
            <a:off x="1372975" y="212725"/>
            <a:ext cx="4806374" cy="813000"/>
          </a:xfrm>
          <a:prstGeom prst="parallelogram">
            <a:avLst>
              <a:gd name="adj" fmla="val 4531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ebas Neue" panose="020B0606020202050201" pitchFamily="34" charset="77"/>
            </a:endParaRPr>
          </a:p>
        </p:txBody>
      </p:sp>
      <p:sp>
        <p:nvSpPr>
          <p:cNvPr id="10" name="Google Shape;87;p14">
            <a:extLst>
              <a:ext uri="{FF2B5EF4-FFF2-40B4-BE49-F238E27FC236}">
                <a16:creationId xmlns:a16="http://schemas.microsoft.com/office/drawing/2014/main" id="{8DC17925-3C94-8F46-871B-B63E680B4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lang="es-ES_tradnl" noProof="0" dirty="0"/>
          </a:p>
        </p:txBody>
      </p:sp>
      <p:sp>
        <p:nvSpPr>
          <p:cNvPr id="11" name="Google Shape;7;p1">
            <a:extLst>
              <a:ext uri="{FF2B5EF4-FFF2-40B4-BE49-F238E27FC236}">
                <a16:creationId xmlns:a16="http://schemas.microsoft.com/office/drawing/2014/main" id="{3C188FE6-8EF7-F044-9027-21CDC308C75A}"/>
              </a:ext>
            </a:extLst>
          </p:cNvPr>
          <p:cNvSpPr txBox="1">
            <a:spLocks/>
          </p:cNvSpPr>
          <p:nvPr userDrawn="1"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C7D9485-9D22-5647-86A2-61337F2EBD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0387" y="2634922"/>
            <a:ext cx="8023225" cy="2275770"/>
          </a:xfrm>
          <a:prstGeom prst="rect">
            <a:avLst/>
          </a:prstGeom>
        </p:spPr>
        <p:txBody>
          <a:bodyPr anchor="ctr"/>
          <a:lstStyle>
            <a:lvl1pPr marL="50800" indent="0" algn="ctr">
              <a:buNone/>
              <a:defRPr sz="4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s-ES_tradnl" dirty="0"/>
          </a:p>
        </p:txBody>
      </p:sp>
      <p:pic>
        <p:nvPicPr>
          <p:cNvPr id="6" name="Google Shape;12;p2">
            <a:extLst>
              <a:ext uri="{FF2B5EF4-FFF2-40B4-BE49-F238E27FC236}">
                <a16:creationId xmlns:a16="http://schemas.microsoft.com/office/drawing/2014/main" id="{0D343A73-BC54-BF4C-A259-A0C913A07BC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6179349" y="392750"/>
            <a:ext cx="2759037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2F63D34-FBAE-5442-A997-D0933D8286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0387" y="1632286"/>
            <a:ext cx="8023225" cy="665749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50800" indent="0" algn="ctr">
              <a:buNone/>
              <a:defRPr sz="2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s-ES_tradnl" dirty="0"/>
          </a:p>
        </p:txBody>
      </p:sp>
      <p:sp>
        <p:nvSpPr>
          <p:cNvPr id="11" name="Google Shape;165;p24">
            <a:extLst>
              <a:ext uri="{FF2B5EF4-FFF2-40B4-BE49-F238E27FC236}">
                <a16:creationId xmlns:a16="http://schemas.microsoft.com/office/drawing/2014/main" id="{ED241A5B-D2F8-1D45-8F9D-D1D4B48E7814}"/>
              </a:ext>
            </a:extLst>
          </p:cNvPr>
          <p:cNvSpPr/>
          <p:nvPr userDrawn="1"/>
        </p:nvSpPr>
        <p:spPr>
          <a:xfrm>
            <a:off x="770850" y="212725"/>
            <a:ext cx="903600" cy="813000"/>
          </a:xfrm>
          <a:prstGeom prst="parallelogram">
            <a:avLst>
              <a:gd name="adj" fmla="val 4531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66;p24">
            <a:extLst>
              <a:ext uri="{FF2B5EF4-FFF2-40B4-BE49-F238E27FC236}">
                <a16:creationId xmlns:a16="http://schemas.microsoft.com/office/drawing/2014/main" id="{990F690A-789C-6740-B34D-11153A9BBDDB}"/>
              </a:ext>
            </a:extLst>
          </p:cNvPr>
          <p:cNvSpPr/>
          <p:nvPr userDrawn="1"/>
        </p:nvSpPr>
        <p:spPr>
          <a:xfrm>
            <a:off x="146422" y="212725"/>
            <a:ext cx="9036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chemeClr val="bg2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4;p14">
            <a:extLst>
              <a:ext uri="{FF2B5EF4-FFF2-40B4-BE49-F238E27FC236}">
                <a16:creationId xmlns:a16="http://schemas.microsoft.com/office/drawing/2014/main" id="{7FF938C0-C0B1-8543-A7DC-F3B0AA5BE94F}"/>
              </a:ext>
            </a:extLst>
          </p:cNvPr>
          <p:cNvSpPr/>
          <p:nvPr userDrawn="1"/>
        </p:nvSpPr>
        <p:spPr>
          <a:xfrm>
            <a:off x="1372975" y="212725"/>
            <a:ext cx="4806374" cy="813000"/>
          </a:xfrm>
          <a:prstGeom prst="parallelogram">
            <a:avLst>
              <a:gd name="adj" fmla="val 4531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latin typeface="Bebas Neue" panose="020B0606020202050201" pitchFamily="34" charset="77"/>
            </a:endParaRPr>
          </a:p>
        </p:txBody>
      </p:sp>
      <p:sp>
        <p:nvSpPr>
          <p:cNvPr id="15" name="Google Shape;87;p14">
            <a:extLst>
              <a:ext uri="{FF2B5EF4-FFF2-40B4-BE49-F238E27FC236}">
                <a16:creationId xmlns:a16="http://schemas.microsoft.com/office/drawing/2014/main" id="{D9228F07-B61E-0645-862B-247F10F5B1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945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 preserve="1">
  <p:cSld name="1_En blanco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;p1">
            <a:extLst>
              <a:ext uri="{FF2B5EF4-FFF2-40B4-BE49-F238E27FC236}">
                <a16:creationId xmlns:a16="http://schemas.microsoft.com/office/drawing/2014/main" id="{FCAE1A83-104E-8B4E-949F-BE3A9ADE6BA0}"/>
              </a:ext>
            </a:extLst>
          </p:cNvPr>
          <p:cNvSpPr txBox="1">
            <a:spLocks/>
          </p:cNvSpPr>
          <p:nvPr userDrawn="1"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14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LOGO-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60483" y="6287016"/>
            <a:ext cx="1687458" cy="377364"/>
          </a:xfrm>
          <a:prstGeom prst="rect">
            <a:avLst/>
          </a:prstGeom>
        </p:spPr>
      </p:pic>
      <p:sp>
        <p:nvSpPr>
          <p:cNvPr id="5" name="Rectángulo 4"/>
          <p:cNvSpPr/>
          <p:nvPr userDrawn="1"/>
        </p:nvSpPr>
        <p:spPr>
          <a:xfrm>
            <a:off x="586828" y="385379"/>
            <a:ext cx="8084206" cy="700690"/>
          </a:xfrm>
          <a:prstGeom prst="rect">
            <a:avLst/>
          </a:prstGeom>
          <a:solidFill>
            <a:srgbClr val="4A2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Rectángulo 8"/>
          <p:cNvSpPr/>
          <p:nvPr userDrawn="1"/>
        </p:nvSpPr>
        <p:spPr>
          <a:xfrm>
            <a:off x="4117848" y="297797"/>
            <a:ext cx="1156138" cy="166414"/>
          </a:xfrm>
          <a:prstGeom prst="rect">
            <a:avLst/>
          </a:prstGeom>
          <a:solidFill>
            <a:srgbClr val="4A2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ángulo 9"/>
          <p:cNvSpPr/>
          <p:nvPr userDrawn="1"/>
        </p:nvSpPr>
        <p:spPr>
          <a:xfrm>
            <a:off x="5264579" y="297797"/>
            <a:ext cx="1156138" cy="166414"/>
          </a:xfrm>
          <a:prstGeom prst="rect">
            <a:avLst/>
          </a:prstGeom>
          <a:solidFill>
            <a:srgbClr val="5A3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10"/>
          <p:cNvSpPr/>
          <p:nvPr userDrawn="1"/>
        </p:nvSpPr>
        <p:spPr>
          <a:xfrm>
            <a:off x="6411310" y="297797"/>
            <a:ext cx="1156138" cy="166414"/>
          </a:xfrm>
          <a:prstGeom prst="rect">
            <a:avLst/>
          </a:prstGeom>
          <a:solidFill>
            <a:srgbClr val="6D4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ectángulo 11"/>
          <p:cNvSpPr/>
          <p:nvPr userDrawn="1"/>
        </p:nvSpPr>
        <p:spPr>
          <a:xfrm>
            <a:off x="7514896" y="297797"/>
            <a:ext cx="1156138" cy="166414"/>
          </a:xfrm>
          <a:prstGeom prst="rect">
            <a:avLst/>
          </a:prstGeom>
          <a:solidFill>
            <a:srgbClr val="7D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3" name="Imagen 12" descr="logo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6828" y="6225296"/>
            <a:ext cx="1992643" cy="446269"/>
          </a:xfrm>
          <a:prstGeom prst="rect">
            <a:avLst/>
          </a:prstGeom>
        </p:spPr>
      </p:pic>
      <p:sp>
        <p:nvSpPr>
          <p:cNvPr id="15" name="Marcador de text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535334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Calibri" panose="020F0502020204030204" pitchFamily="34" charset="0"/>
                <a:ea typeface="Roboto Mono"/>
                <a:cs typeface="Calibri" panose="020F0502020204030204" pitchFamily="34" charset="0"/>
                <a:sym typeface="Roboto Mon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763700" y="212725"/>
            <a:ext cx="675180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 lang="es-CL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79" r:id="rId3"/>
    <p:sldLayoutId id="2147483662" r:id="rId4"/>
    <p:sldLayoutId id="2147483678" r:id="rId5"/>
    <p:sldLayoutId id="2147483677" r:id="rId6"/>
    <p:sldLayoutId id="214748369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Roboto" panose="02000000000000000000" pitchFamily="2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>
            <a:spLocks noGrp="1"/>
          </p:cNvSpPr>
          <p:nvPr>
            <p:ph type="title"/>
          </p:nvPr>
        </p:nvSpPr>
        <p:spPr>
          <a:xfrm>
            <a:off x="4089797" y="3908177"/>
            <a:ext cx="4894800" cy="2891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Fase1 Proyecto APT</a:t>
            </a:r>
            <a:br>
              <a:rPr lang="en-US" sz="4000" dirty="0"/>
            </a:br>
            <a:br>
              <a:rPr lang="en-US" sz="4000" dirty="0"/>
            </a:br>
            <a:br>
              <a:rPr lang="en-US" sz="2000" dirty="0"/>
            </a:br>
            <a:r>
              <a:rPr lang="en-US" sz="2000" b="1" dirty="0" err="1"/>
              <a:t>Docente:</a:t>
            </a:r>
            <a:r>
              <a:rPr lang="en-US" sz="2000" dirty="0" err="1"/>
              <a:t>Reginaldo</a:t>
            </a:r>
            <a:r>
              <a:rPr lang="en-US" sz="2000" dirty="0"/>
              <a:t> Salinas Bruna</a:t>
            </a:r>
            <a:br>
              <a:rPr lang="en-US" sz="2000" dirty="0"/>
            </a:br>
            <a:r>
              <a:rPr lang="en-US" sz="2000" dirty="0"/>
              <a:t>Grupo Nº:</a:t>
            </a:r>
            <a:br>
              <a:rPr lang="en-US" sz="2000" dirty="0"/>
            </a:br>
            <a:r>
              <a:rPr lang="en-US" sz="2000" dirty="0" err="1"/>
              <a:t>Integrantes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Benjamin </a:t>
            </a:r>
            <a:r>
              <a:rPr lang="en-US" sz="2000" dirty="0" err="1"/>
              <a:t>riveros</a:t>
            </a:r>
            <a:br>
              <a:rPr lang="en-US" sz="2000" dirty="0"/>
            </a:b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Descripción breve del proyecto APT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FF1B2-8AEA-0072-37AD-ACAEE897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ED88-848F-5146-1440-D2E9D012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Descripción del proyecto</a:t>
            </a:r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73E3B3-F706-7AD8-DA15-D792AAA7796E}"/>
              </a:ext>
            </a:extLst>
          </p:cNvPr>
          <p:cNvSpPr txBox="1"/>
          <p:nvPr/>
        </p:nvSpPr>
        <p:spPr>
          <a:xfrm>
            <a:off x="562063" y="1166070"/>
            <a:ext cx="7273255" cy="106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Autofit/>
          </a:bodyPr>
          <a:lstStyle/>
          <a:p>
            <a:r>
              <a:rPr lang="es-CL" sz="2400" b="1" dirty="0"/>
              <a:t>Nombre del Proyecto:</a:t>
            </a:r>
            <a:r>
              <a:rPr lang="es-CL" sz="2400" dirty="0"/>
              <a:t> PC Doctor — Sistema Web de Diagnóstico Asistido de Problemas de Hardware y Software para PC.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14425CF-4149-8511-3594-6B965283C298}"/>
              </a:ext>
            </a:extLst>
          </p:cNvPr>
          <p:cNvSpPr txBox="1"/>
          <p:nvPr/>
        </p:nvSpPr>
        <p:spPr>
          <a:xfrm>
            <a:off x="419449" y="2870229"/>
            <a:ext cx="8170878" cy="377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Autofit/>
          </a:bodyPr>
          <a:lstStyle/>
          <a:p>
            <a:pPr lvl="0"/>
            <a:r>
              <a:rPr lang="es-CL" sz="2400" b="1" dirty="0"/>
              <a:t>Descripción General:</a:t>
            </a:r>
            <a:r>
              <a:rPr lang="es-CL" sz="2400" dirty="0"/>
              <a:t> Aplicación web estructurada con un motor de reglas determinista en Spring Boot y MySQL que interactúa con el usuario mediante un cuestionario adaptativo para determinar la causa raíz de fallas en su equipo y sugerir soluciones.</a:t>
            </a:r>
          </a:p>
          <a:p>
            <a:pPr lvl="0"/>
            <a:endParaRPr lang="es-CL" sz="2400" b="1" dirty="0"/>
          </a:p>
          <a:p>
            <a:pPr lvl="0"/>
            <a:r>
              <a:rPr lang="es-CL" sz="2400" b="1" dirty="0"/>
              <a:t>Módulo Opcional:</a:t>
            </a:r>
            <a:r>
              <a:rPr lang="es-CL" sz="2400" dirty="0"/>
              <a:t> Módulo desacoplado de Procesamiento de Lenguaje Natural (NLP/IA) para mapear texto libre escrito por el usuario a síntomas específicos.</a:t>
            </a:r>
          </a:p>
          <a:p>
            <a:pPr algn="l"/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1041540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con el perfil de egreso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59CEA-F134-BD2A-3152-205062139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CA5D0-6CAE-F8B8-33DC-9A83474E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Relación con Perfil</a:t>
            </a:r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0AC32D4-6F94-899F-44AC-ECE7FAE6C954}"/>
              </a:ext>
            </a:extLst>
          </p:cNvPr>
          <p:cNvSpPr txBox="1"/>
          <p:nvPr/>
        </p:nvSpPr>
        <p:spPr>
          <a:xfrm>
            <a:off x="578839" y="1761688"/>
            <a:ext cx="7180977" cy="26776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2400" b="1" dirty="0"/>
              <a:t>Interés Técnico:</a:t>
            </a:r>
            <a:r>
              <a:rPr lang="es-CL" sz="2400" dirty="0"/>
              <a:t> Proyecto alineado con el soporte técnico, ensamble de hardware y arquitectura de software.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2400" b="1" dirty="0"/>
              <a:t>Desarrollo Profesional:</a:t>
            </a:r>
            <a:r>
              <a:rPr lang="es-CL" sz="2400" dirty="0"/>
              <a:t> Consolidación de competencias en desarrollo Full Stack, construcción de motores lógicos y gestión integral de proyectos informáticos.</a:t>
            </a:r>
          </a:p>
        </p:txBody>
      </p:sp>
    </p:spTree>
    <p:extLst>
      <p:ext uri="{BB962C8B-B14F-4D97-AF65-F5344CB8AC3E}">
        <p14:creationId xmlns:p14="http://schemas.microsoft.com/office/powerpoint/2010/main" val="3767601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Factibilidad del proyecto en la asignatura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E7FB7-18F0-BCA1-889A-E32BD6274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B51FF-13C5-DC65-9206-8940276D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Factibilidad del Proyecto</a:t>
            </a:r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978AD31-D7FC-3169-A923-2B9AAA23F30A}"/>
              </a:ext>
            </a:extLst>
          </p:cNvPr>
          <p:cNvSpPr txBox="1"/>
          <p:nvPr/>
        </p:nvSpPr>
        <p:spPr>
          <a:xfrm>
            <a:off x="1828800" y="194441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Autofit/>
          </a:bodyPr>
          <a:lstStyle/>
          <a:p>
            <a:pPr algn="l"/>
            <a:endParaRPr lang="es-CL" sz="2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026DB73-4518-64B4-435F-8E5FE46FAD3F}"/>
              </a:ext>
            </a:extLst>
          </p:cNvPr>
          <p:cNvSpPr txBox="1"/>
          <p:nvPr/>
        </p:nvSpPr>
        <p:spPr>
          <a:xfrm>
            <a:off x="1166648" y="2028497"/>
            <a:ext cx="6442842" cy="272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Autofit/>
          </a:bodyPr>
          <a:lstStyle/>
          <a:p>
            <a:pPr lvl="0"/>
            <a:r>
              <a:rPr lang="es-CL" sz="1800" b="1" dirty="0"/>
              <a:t>Viabilidad Técnica y Temporal:</a:t>
            </a:r>
            <a:r>
              <a:rPr lang="es-CL" sz="1800" dirty="0"/>
              <a:t> El alcance está acotado para un único desarrollador y se ajusta a las 18 semanas del semestre académico. </a:t>
            </a:r>
          </a:p>
          <a:p>
            <a:pPr lvl="0"/>
            <a:endParaRPr lang="es-CL" sz="1800" b="1" dirty="0"/>
          </a:p>
          <a:p>
            <a:pPr lvl="0"/>
            <a:r>
              <a:rPr lang="es-CL" sz="1800" b="1" dirty="0"/>
              <a:t>Disponibilidad de Recursos:</a:t>
            </a:r>
            <a:r>
              <a:rPr lang="es-CL" sz="1800" dirty="0"/>
              <a:t> Stack tecnológico estándar y gratuito (Spring Boot, MySQL, HTML5/JS/</a:t>
            </a:r>
            <a:r>
              <a:rPr lang="es-CL" sz="1800" dirty="0" err="1"/>
              <a:t>React</a:t>
            </a:r>
            <a:r>
              <a:rPr lang="es-CL" sz="1800" dirty="0"/>
              <a:t>). El motor de reglas corre de forma local sin generar costos de infraestructura ($0). </a:t>
            </a:r>
          </a:p>
          <a:p>
            <a:pPr lvl="0"/>
            <a:endParaRPr lang="es-CL" sz="1800" b="1" dirty="0"/>
          </a:p>
          <a:p>
            <a:pPr lvl="0"/>
            <a:r>
              <a:rPr lang="es-CL" sz="1800" b="1" dirty="0"/>
              <a:t>Mitigación de Riesgos:</a:t>
            </a:r>
            <a:r>
              <a:rPr lang="es-CL" sz="1800" dirty="0"/>
              <a:t> El módulo de IA/NLP es secundario y desacoplado, lo que garantiza que la funcionalidad principal (motor de reglas) esté 100% operativa para la demostración sin depender de servicios externos de pago.</a:t>
            </a:r>
          </a:p>
          <a:p>
            <a:pPr algn="l"/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3264995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proyecto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E7B6B-28F5-B540-BEFD-2002DC1D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CE32D-9E2F-1645-1A2B-7626976F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Objetivos del Proyecto</a:t>
            </a:r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35CA919-451F-4B4E-7DFC-5FCCF51A4459}"/>
              </a:ext>
            </a:extLst>
          </p:cNvPr>
          <p:cNvSpPr txBox="1"/>
          <p:nvPr/>
        </p:nvSpPr>
        <p:spPr>
          <a:xfrm>
            <a:off x="1" y="1515979"/>
            <a:ext cx="8686800" cy="109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Autofit/>
          </a:bodyPr>
          <a:lstStyle/>
          <a:p>
            <a:r>
              <a:rPr lang="es-CL" sz="2400" b="1" dirty="0"/>
              <a:t>Objetivo General:</a:t>
            </a:r>
            <a:endParaRPr lang="es-CL" sz="2400" dirty="0"/>
          </a:p>
          <a:p>
            <a:pPr lvl="0"/>
            <a:r>
              <a:rPr lang="es-CL" sz="1600" dirty="0"/>
              <a:t>Desarrollar un sistema web de diagnóstico técnico (PC Doctor) mediante un motor de reglas en Spring Boot y MySQL para asistir a usuarios en la identificación y resolución de fallas de hardware y software en computadores.</a:t>
            </a:r>
          </a:p>
          <a:p>
            <a:pPr algn="l"/>
            <a:endParaRPr lang="es-CL" sz="2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FFAD9D0-08BC-8648-F021-07236D117F7B}"/>
              </a:ext>
            </a:extLst>
          </p:cNvPr>
          <p:cNvSpPr txBox="1"/>
          <p:nvPr/>
        </p:nvSpPr>
        <p:spPr>
          <a:xfrm>
            <a:off x="208547" y="2839453"/>
            <a:ext cx="8686800" cy="3617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Autofit/>
          </a:bodyPr>
          <a:lstStyle/>
          <a:p>
            <a:r>
              <a:rPr lang="es-CL" b="1" dirty="0"/>
              <a:t>Objetivos Específicos:</a:t>
            </a:r>
          </a:p>
          <a:p>
            <a:endParaRPr lang="es-CL" dirty="0"/>
          </a:p>
          <a:p>
            <a:pPr lvl="0"/>
            <a:r>
              <a:rPr lang="es-CL" dirty="0"/>
              <a:t>-Diseñar el modelo de datos relacional en MySQL para almacenar síntomas, preguntas dinámicas, reglas de inferencia y soluciones.</a:t>
            </a:r>
          </a:p>
          <a:p>
            <a:pPr lvl="0"/>
            <a:endParaRPr lang="es-CL" dirty="0"/>
          </a:p>
          <a:p>
            <a:pPr lvl="0"/>
            <a:r>
              <a:rPr lang="es-CL" dirty="0"/>
              <a:t>-Construir la API REST en Spring Boot para procesar la lógica de inferencia del motor de diagnóstico.</a:t>
            </a:r>
          </a:p>
          <a:p>
            <a:pPr lvl="0"/>
            <a:endParaRPr lang="es-CL" dirty="0"/>
          </a:p>
          <a:p>
            <a:pPr lvl="0"/>
            <a:r>
              <a:rPr lang="es-CL" dirty="0"/>
              <a:t>-Desarrollar la interfaz web interactiva (</a:t>
            </a:r>
            <a:r>
              <a:rPr lang="es-CL" dirty="0" err="1"/>
              <a:t>Frontend</a:t>
            </a:r>
            <a:r>
              <a:rPr lang="es-CL" dirty="0"/>
              <a:t>) para la captura de respuestas del usuario y la visualización de diagnósticos.</a:t>
            </a:r>
          </a:p>
          <a:p>
            <a:pPr lvl="0"/>
            <a:endParaRPr lang="es-CL" dirty="0"/>
          </a:p>
          <a:p>
            <a:pPr lvl="0"/>
            <a:r>
              <a:rPr lang="es-CL" dirty="0"/>
              <a:t>-Implementar un módulo desacoplado de Procesamiento de Lenguaje Natural (NLP) para la extracción automática de síntomas desde descripciones de texto libre.</a:t>
            </a:r>
          </a:p>
          <a:p>
            <a:pPr lvl="0"/>
            <a:endParaRPr lang="es-CL" dirty="0"/>
          </a:p>
          <a:p>
            <a:pPr lvl="0"/>
            <a:r>
              <a:rPr lang="es-CL" dirty="0"/>
              <a:t>-Realizar pruebas de integración y validación para verificar la precisión del motor de reglas ante casos de falla reales.</a:t>
            </a:r>
          </a:p>
          <a:p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227951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 de trabajo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0F384-E74D-7BCF-FC67-9629BFB08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44457-E22B-0DF2-2122-D86C317C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Metodologías del Proyecto</a:t>
            </a:r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44C85AD-8580-9944-D3D5-164AAAF6BAF0}"/>
              </a:ext>
            </a:extLst>
          </p:cNvPr>
          <p:cNvSpPr txBox="1"/>
          <p:nvPr/>
        </p:nvSpPr>
        <p:spPr>
          <a:xfrm>
            <a:off x="1229710" y="1912883"/>
            <a:ext cx="6947338" cy="392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Autofit/>
          </a:bodyPr>
          <a:lstStyle/>
          <a:p>
            <a:pPr lvl="0"/>
            <a:r>
              <a:rPr lang="es-CL" b="1" dirty="0"/>
              <a:t>Marco de Trabajo Ágil:</a:t>
            </a:r>
            <a:r>
              <a:rPr lang="es-CL" dirty="0"/>
              <a:t> Adaptación de Scrum / Kanban para trabajo individual, organizado en </a:t>
            </a:r>
            <a:r>
              <a:rPr lang="es-CL" dirty="0" err="1"/>
              <a:t>sprints</a:t>
            </a:r>
            <a:r>
              <a:rPr lang="es-CL" dirty="0"/>
              <a:t> de 2 semanas. </a:t>
            </a:r>
          </a:p>
          <a:p>
            <a:pPr lvl="0"/>
            <a:endParaRPr lang="es-CL" dirty="0"/>
          </a:p>
          <a:p>
            <a:pPr lvl="0"/>
            <a:r>
              <a:rPr lang="es-CL" b="1" dirty="0"/>
              <a:t>Fases de Desarrollo:</a:t>
            </a:r>
          </a:p>
          <a:p>
            <a:pPr lvl="0"/>
            <a:endParaRPr lang="es-CL" dirty="0"/>
          </a:p>
          <a:p>
            <a:pPr lvl="1"/>
            <a:r>
              <a:rPr lang="es-CL" b="1" dirty="0"/>
              <a:t>Análisis y Modelado:</a:t>
            </a:r>
            <a:r>
              <a:rPr lang="es-CL" dirty="0"/>
              <a:t> Definición de matriz de síntomas/diagnósticos y diseño ER en MySQL. </a:t>
            </a:r>
          </a:p>
          <a:p>
            <a:pPr lvl="1"/>
            <a:endParaRPr lang="es-CL" dirty="0"/>
          </a:p>
          <a:p>
            <a:pPr lvl="1"/>
            <a:r>
              <a:rPr lang="es-CL" b="1" dirty="0"/>
              <a:t>Desarrollo </a:t>
            </a:r>
            <a:r>
              <a:rPr lang="es-CL" b="1" dirty="0" err="1"/>
              <a:t>Backend</a:t>
            </a:r>
            <a:r>
              <a:rPr lang="es-CL" b="1" dirty="0"/>
              <a:t>:</a:t>
            </a:r>
            <a:r>
              <a:rPr lang="es-CL" dirty="0"/>
              <a:t> Creación de controladores REST y motor de reglas en Spring Boot. </a:t>
            </a:r>
          </a:p>
          <a:p>
            <a:pPr lvl="1"/>
            <a:endParaRPr lang="es-CL" dirty="0"/>
          </a:p>
          <a:p>
            <a:pPr lvl="1"/>
            <a:r>
              <a:rPr lang="es-CL" b="1" dirty="0"/>
              <a:t>Desarrollo </a:t>
            </a:r>
            <a:r>
              <a:rPr lang="es-CL" b="1" dirty="0" err="1"/>
              <a:t>Frontend</a:t>
            </a:r>
            <a:r>
              <a:rPr lang="es-CL" b="1" dirty="0"/>
              <a:t>:</a:t>
            </a:r>
            <a:r>
              <a:rPr lang="es-CL" dirty="0"/>
              <a:t> Construcción de la interfaz web para el cuestionario y resultados. </a:t>
            </a:r>
          </a:p>
          <a:p>
            <a:pPr lvl="1"/>
            <a:endParaRPr lang="es-CL" dirty="0"/>
          </a:p>
          <a:p>
            <a:pPr lvl="1"/>
            <a:r>
              <a:rPr lang="es-CL" b="1" dirty="0"/>
              <a:t>Integración y NLP:</a:t>
            </a:r>
            <a:r>
              <a:rPr lang="es-CL" dirty="0"/>
              <a:t> Pruebas unitarias y conexión opcional del módulo de texto libre. </a:t>
            </a:r>
          </a:p>
          <a:p>
            <a:pPr lvl="1"/>
            <a:r>
              <a:rPr lang="es-CL" b="1" dirty="0"/>
              <a:t>Cierre:</a:t>
            </a:r>
            <a:r>
              <a:rPr lang="es-CL" dirty="0"/>
              <a:t> Despliegue de demostración local y documentación. </a:t>
            </a:r>
          </a:p>
          <a:p>
            <a:pPr algn="l"/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729479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trabajo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663A-9130-DA47-993C-2C2F8DDF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F9AAD-1C50-7E68-92BC-05A61F9F3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Plan del Proyecto</a:t>
            </a:r>
            <a:endParaRPr lang="es-CL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5368F3D-546C-CA55-A1D9-157982B88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249078"/>
              </p:ext>
            </p:extLst>
          </p:nvPr>
        </p:nvGraphicFramePr>
        <p:xfrm>
          <a:off x="293688" y="1498118"/>
          <a:ext cx="8556624" cy="4602480"/>
        </p:xfrm>
        <a:graphic>
          <a:graphicData uri="http://schemas.openxmlformats.org/drawingml/2006/table">
            <a:tbl>
              <a:tblPr/>
              <a:tblGrid>
                <a:gridCol w="1426104">
                  <a:extLst>
                    <a:ext uri="{9D8B030D-6E8A-4147-A177-3AD203B41FA5}">
                      <a16:colId xmlns:a16="http://schemas.microsoft.com/office/drawing/2014/main" val="754830368"/>
                    </a:ext>
                  </a:extLst>
                </a:gridCol>
                <a:gridCol w="1426104">
                  <a:extLst>
                    <a:ext uri="{9D8B030D-6E8A-4147-A177-3AD203B41FA5}">
                      <a16:colId xmlns:a16="http://schemas.microsoft.com/office/drawing/2014/main" val="2759372627"/>
                    </a:ext>
                  </a:extLst>
                </a:gridCol>
                <a:gridCol w="1426104">
                  <a:extLst>
                    <a:ext uri="{9D8B030D-6E8A-4147-A177-3AD203B41FA5}">
                      <a16:colId xmlns:a16="http://schemas.microsoft.com/office/drawing/2014/main" val="2502904588"/>
                    </a:ext>
                  </a:extLst>
                </a:gridCol>
                <a:gridCol w="1426104">
                  <a:extLst>
                    <a:ext uri="{9D8B030D-6E8A-4147-A177-3AD203B41FA5}">
                      <a16:colId xmlns:a16="http://schemas.microsoft.com/office/drawing/2014/main" val="384781445"/>
                    </a:ext>
                  </a:extLst>
                </a:gridCol>
                <a:gridCol w="1426104">
                  <a:extLst>
                    <a:ext uri="{9D8B030D-6E8A-4147-A177-3AD203B41FA5}">
                      <a16:colId xmlns:a16="http://schemas.microsoft.com/office/drawing/2014/main" val="3666568080"/>
                    </a:ext>
                  </a:extLst>
                </a:gridCol>
                <a:gridCol w="1426104">
                  <a:extLst>
                    <a:ext uri="{9D8B030D-6E8A-4147-A177-3AD203B41FA5}">
                      <a16:colId xmlns:a16="http://schemas.microsoft.com/office/drawing/2014/main" val="883466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 dirty="0">
                          <a:effectLst/>
                          <a:latin typeface="+mj-lt"/>
                        </a:rPr>
                        <a:t>Competencia</a:t>
                      </a:r>
                      <a:endParaRPr lang="es-CL" dirty="0"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 dirty="0">
                          <a:effectLst/>
                          <a:latin typeface="+mj-lt"/>
                        </a:rPr>
                        <a:t>Actividad / Tarea</a:t>
                      </a:r>
                      <a:endParaRPr lang="es-CL" dirty="0"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 dirty="0">
                          <a:effectLst/>
                          <a:latin typeface="+mj-lt"/>
                        </a:rPr>
                        <a:t>Descripción</a:t>
                      </a:r>
                      <a:endParaRPr lang="es-CL" dirty="0"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>
                          <a:effectLst/>
                          <a:latin typeface="+mj-lt"/>
                        </a:rPr>
                        <a:t>Recursos</a:t>
                      </a:r>
                      <a:endParaRPr lang="es-CL"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>
                          <a:effectLst/>
                          <a:latin typeface="+mj-lt"/>
                        </a:rPr>
                        <a:t>Duración</a:t>
                      </a:r>
                      <a:endParaRPr lang="es-CL"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>
                          <a:effectLst/>
                          <a:latin typeface="+mj-lt"/>
                        </a:rPr>
                        <a:t>Responsable</a:t>
                      </a:r>
                      <a:endParaRPr lang="es-CL"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548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 dirty="0">
                          <a:effectLst/>
                          <a:latin typeface="+mj-lt"/>
                        </a:rPr>
                        <a:t>Gestión de BD</a:t>
                      </a:r>
                      <a:endParaRPr lang="es-CL" dirty="0"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>
                          <a:effectLst/>
                          <a:latin typeface="+mj-lt"/>
                        </a:rPr>
                        <a:t>Modelado e Impl. de BD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dirty="0">
                          <a:effectLst/>
                          <a:latin typeface="+mj-lt"/>
                        </a:rPr>
                        <a:t>Diseñar diagrama ER y ejecutar scripts en MySQL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dirty="0">
                          <a:effectLst/>
                          <a:latin typeface="+mj-lt"/>
                        </a:rPr>
                        <a:t>MySQL </a:t>
                      </a:r>
                      <a:r>
                        <a:rPr lang="es-CL" dirty="0" err="1">
                          <a:effectLst/>
                          <a:latin typeface="+mj-lt"/>
                        </a:rPr>
                        <a:t>Workbench</a:t>
                      </a:r>
                      <a:endParaRPr lang="es-CL" dirty="0"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>
                          <a:effectLst/>
                          <a:latin typeface="+mj-lt"/>
                        </a:rPr>
                        <a:t>2 semanas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>
                          <a:effectLst/>
                          <a:latin typeface="+mj-lt"/>
                        </a:rPr>
                        <a:t>Benjamín Riveros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983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>
                          <a:effectLst/>
                          <a:latin typeface="+mj-lt"/>
                        </a:rPr>
                        <a:t>Backend</a:t>
                      </a:r>
                      <a:endParaRPr lang="es-CL"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>
                          <a:effectLst/>
                          <a:latin typeface="+mj-lt"/>
                        </a:rPr>
                        <a:t>API y Motor de Reglas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>
                          <a:effectLst/>
                          <a:latin typeface="+mj-lt"/>
                        </a:rPr>
                        <a:t>Crear controladores REST y lógica en Spring Boot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dirty="0">
                          <a:effectLst/>
                          <a:latin typeface="+mj-lt"/>
                        </a:rPr>
                        <a:t>Java, Spring Boot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>
                          <a:effectLst/>
                          <a:latin typeface="+mj-lt"/>
                        </a:rPr>
                        <a:t>3 semanas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>
                          <a:effectLst/>
                          <a:latin typeface="+mj-lt"/>
                        </a:rPr>
                        <a:t>Benjamín Riveros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408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>
                          <a:effectLst/>
                          <a:latin typeface="+mj-lt"/>
                        </a:rPr>
                        <a:t>Frontend</a:t>
                      </a:r>
                      <a:endParaRPr lang="es-CL"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>
                          <a:effectLst/>
                          <a:latin typeface="+mj-lt"/>
                        </a:rPr>
                        <a:t>Interfaz Web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>
                          <a:effectLst/>
                          <a:latin typeface="+mj-lt"/>
                        </a:rPr>
                        <a:t>Construir pantallas del cuestionario y reportes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dirty="0">
                          <a:effectLst/>
                          <a:latin typeface="+mj-lt"/>
                        </a:rPr>
                        <a:t>HTML5 / JS / </a:t>
                      </a:r>
                      <a:r>
                        <a:rPr lang="es-CL" dirty="0" err="1">
                          <a:effectLst/>
                          <a:latin typeface="+mj-lt"/>
                        </a:rPr>
                        <a:t>React</a:t>
                      </a:r>
                      <a:endParaRPr lang="es-CL" dirty="0"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dirty="0">
                          <a:effectLst/>
                          <a:latin typeface="+mj-lt"/>
                        </a:rPr>
                        <a:t>3 semanas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>
                          <a:effectLst/>
                          <a:latin typeface="+mj-lt"/>
                        </a:rPr>
                        <a:t>Benjamín Riveros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303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>
                          <a:effectLst/>
                          <a:latin typeface="+mj-lt"/>
                        </a:rPr>
                        <a:t>Integración / IA</a:t>
                      </a:r>
                      <a:endParaRPr lang="es-CL"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dirty="0">
                          <a:effectLst/>
                          <a:latin typeface="+mj-lt"/>
                        </a:rPr>
                        <a:t>Módulo NLP (Texto Libre)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>
                          <a:effectLst/>
                          <a:latin typeface="+mj-lt"/>
                        </a:rPr>
                        <a:t>Mapeo opcional de texto libre a síntomas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dirty="0">
                          <a:effectLst/>
                          <a:latin typeface="+mj-lt"/>
                        </a:rPr>
                        <a:t>API / SDK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>
                          <a:effectLst/>
                          <a:latin typeface="+mj-lt"/>
                        </a:rPr>
                        <a:t>2 semanas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dirty="0">
                          <a:effectLst/>
                          <a:latin typeface="+mj-lt"/>
                        </a:rPr>
                        <a:t>Benjamín Riveros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886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7415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Evidencias esperadas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E51AD-221F-68E5-91D7-21E995D3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Evidencias Esperadas del Proyecto</a:t>
            </a:r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79A3EC9-0D90-448C-4A25-5462983EFF36}"/>
              </a:ext>
            </a:extLst>
          </p:cNvPr>
          <p:cNvSpPr txBox="1"/>
          <p:nvPr/>
        </p:nvSpPr>
        <p:spPr>
          <a:xfrm>
            <a:off x="609600" y="1491916"/>
            <a:ext cx="7772400" cy="4451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Autofit/>
          </a:bodyPr>
          <a:lstStyle/>
          <a:p>
            <a:pPr lvl="0"/>
            <a:r>
              <a:rPr lang="es-CL" b="1" dirty="0"/>
              <a:t>Evidencias de Avance:</a:t>
            </a:r>
          </a:p>
          <a:p>
            <a:pPr lvl="0"/>
            <a:endParaRPr lang="es-CL" dirty="0"/>
          </a:p>
          <a:p>
            <a:pPr lvl="1"/>
            <a:r>
              <a:rPr lang="es-CL" b="1" dirty="0"/>
              <a:t>Documento de Arquitectura y DER:</a:t>
            </a:r>
            <a:r>
              <a:rPr lang="es-CL" dirty="0"/>
              <a:t> Diagrama de Base de Datos MySQL y especificación de </a:t>
            </a:r>
            <a:r>
              <a:rPr lang="es-CL" dirty="0" err="1"/>
              <a:t>endpoints</a:t>
            </a:r>
            <a:r>
              <a:rPr lang="es-CL" dirty="0"/>
              <a:t> REST. </a:t>
            </a:r>
          </a:p>
          <a:p>
            <a:pPr lvl="1"/>
            <a:endParaRPr lang="es-CL" dirty="0"/>
          </a:p>
          <a:p>
            <a:pPr lvl="1"/>
            <a:r>
              <a:rPr lang="es-CL" b="1" dirty="0"/>
              <a:t>Repositorio GitHub y </a:t>
            </a:r>
            <a:r>
              <a:rPr lang="es-CL" b="1" dirty="0" err="1"/>
              <a:t>Backend</a:t>
            </a:r>
            <a:r>
              <a:rPr lang="es-CL" b="1" dirty="0"/>
              <a:t> :</a:t>
            </a:r>
            <a:r>
              <a:rPr lang="es-CL" dirty="0"/>
              <a:t> Proyecto en Spring Boot funcional con el motor de reglas respondiendo peticiones. </a:t>
            </a:r>
          </a:p>
          <a:p>
            <a:pPr lvl="1"/>
            <a:endParaRPr lang="es-CL" dirty="0"/>
          </a:p>
          <a:p>
            <a:pPr lvl="1"/>
            <a:endParaRPr lang="es-CL" dirty="0"/>
          </a:p>
          <a:p>
            <a:pPr lvl="0"/>
            <a:r>
              <a:rPr lang="es-CL" b="1" dirty="0"/>
              <a:t>Evidencias Finales:</a:t>
            </a:r>
            <a:endParaRPr lang="es-CL" dirty="0"/>
          </a:p>
          <a:p>
            <a:pPr lvl="1"/>
            <a:r>
              <a:rPr lang="es-CL" b="1" dirty="0"/>
              <a:t>Sistema Web Operativo (Demo):</a:t>
            </a:r>
            <a:r>
              <a:rPr lang="es-CL" dirty="0"/>
              <a:t> Aplicación Full Stack integrada y desplegada para pruebas en vivo. </a:t>
            </a:r>
          </a:p>
          <a:p>
            <a:pPr lvl="1"/>
            <a:endParaRPr lang="es-CL" dirty="0"/>
          </a:p>
          <a:p>
            <a:pPr lvl="1"/>
            <a:r>
              <a:rPr lang="es-CL" b="1" dirty="0"/>
              <a:t>Informe Final y Manual de Usuario:</a:t>
            </a:r>
            <a:r>
              <a:rPr lang="es-CL" dirty="0"/>
              <a:t> Documentación técnica completa y guía de arquitectura del sistema. </a:t>
            </a:r>
          </a:p>
          <a:p>
            <a:pPr algn="l"/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>
            <a:spLocks noGrp="1"/>
          </p:cNvSpPr>
          <p:nvPr>
            <p:ph type="title"/>
          </p:nvPr>
        </p:nvSpPr>
        <p:spPr>
          <a:xfrm>
            <a:off x="3004575" y="3476149"/>
            <a:ext cx="5995800" cy="245942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 err="1"/>
              <a:t>Preguntas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7992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Autofit/>
      </a:bodyPr>
      <a:lstStyle>
        <a:defPPr algn="l">
          <a:defRPr sz="24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2f9391-964b-48b6-b3b0-13a7ac8a75d6" xsi:nil="true"/>
    <lcf76f155ced4ddcb4097134ff3c332f xmlns="c2ef7064-63f7-4dcd-87f2-3580cf294d1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490DE1D59CF8418FDA5A26334C9654" ma:contentTypeVersion="13" ma:contentTypeDescription="Crear nuevo documento." ma:contentTypeScope="" ma:versionID="0947c955fb93921eafb35975722a95d7">
  <xsd:schema xmlns:xsd="http://www.w3.org/2001/XMLSchema" xmlns:xs="http://www.w3.org/2001/XMLSchema" xmlns:p="http://schemas.microsoft.com/office/2006/metadata/properties" xmlns:ns2="c2ef7064-63f7-4dcd-87f2-3580cf294d1c" xmlns:ns3="322f9391-964b-48b6-b3b0-13a7ac8a75d6" targetNamespace="http://schemas.microsoft.com/office/2006/metadata/properties" ma:root="true" ma:fieldsID="7a1f18c72603c702d1675a48c9701c9d" ns2:_="" ns3:_="">
    <xsd:import namespace="c2ef7064-63f7-4dcd-87f2-3580cf294d1c"/>
    <xsd:import namespace="322f9391-964b-48b6-b3b0-13a7ac8a75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ef7064-63f7-4dcd-87f2-3580cf294d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2f9391-964b-48b6-b3b0-13a7ac8a75d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117467f-38fe-41e0-8cfe-bab1e1047489}" ma:internalName="TaxCatchAll" ma:showField="CatchAllData" ma:web="322f9391-964b-48b6-b3b0-13a7ac8a75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AB9B302-04BE-4B27-B4FA-2CC6AEBC618B}">
  <ds:schemaRefs>
    <ds:schemaRef ds:uri="http://schemas.microsoft.com/office/2006/metadata/properties"/>
    <ds:schemaRef ds:uri="http://schemas.microsoft.com/office/infopath/2007/PartnerControls"/>
    <ds:schemaRef ds:uri="322f9391-964b-48b6-b3b0-13a7ac8a75d6"/>
    <ds:schemaRef ds:uri="c2ef7064-63f7-4dcd-87f2-3580cf294d1c"/>
  </ds:schemaRefs>
</ds:datastoreItem>
</file>

<file path=customXml/itemProps2.xml><?xml version="1.0" encoding="utf-8"?>
<ds:datastoreItem xmlns:ds="http://schemas.openxmlformats.org/officeDocument/2006/customXml" ds:itemID="{6512106B-37BE-4C1E-AB26-C55B17FF37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ef7064-63f7-4dcd-87f2-3580cf294d1c"/>
    <ds:schemaRef ds:uri="322f9391-964b-48b6-b3b0-13a7ac8a75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85E63E6-39DE-4245-B876-44236A6402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5808</TotalTime>
  <Words>727</Words>
  <Application>Microsoft Office PowerPoint</Application>
  <PresentationFormat>Presentación en pantalla (4:3)</PresentationFormat>
  <Paragraphs>93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Bebas Neue</vt:lpstr>
      <vt:lpstr>Calibri</vt:lpstr>
      <vt:lpstr>Arial</vt:lpstr>
      <vt:lpstr>Roboto Condensed</vt:lpstr>
      <vt:lpstr>Franklin Gothic</vt:lpstr>
      <vt:lpstr>Tema de Office</vt:lpstr>
      <vt:lpstr>  Fase1 Proyecto APT   Docente:Reginaldo Salinas Bruna Grupo Nº: Integrantes: Benjamin riveros </vt:lpstr>
      <vt:lpstr>Descripción breve del proyecto APT</vt:lpstr>
      <vt:lpstr>Descripción del proyecto</vt:lpstr>
      <vt:lpstr>Relación con el perfil de egreso</vt:lpstr>
      <vt:lpstr>Relación con Perfil</vt:lpstr>
      <vt:lpstr>Factibilidad del proyecto en la asignatura</vt:lpstr>
      <vt:lpstr>Factibilidad del Proyecto</vt:lpstr>
      <vt:lpstr>Objetivos del proyecto</vt:lpstr>
      <vt:lpstr>Objetivos del Proyecto</vt:lpstr>
      <vt:lpstr>Metodología de trabajo</vt:lpstr>
      <vt:lpstr>Metodologías del Proyecto</vt:lpstr>
      <vt:lpstr>Plan de trabajo</vt:lpstr>
      <vt:lpstr>Plan del Proyecto</vt:lpstr>
      <vt:lpstr>Evidencias esperadas</vt:lpstr>
      <vt:lpstr>Evidencias Esperadas del Proyecto</vt:lpstr>
      <vt:lpstr> Preguntas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de Software</dc:title>
  <dc:creator>Victor Rodrigo Galaz Silva</dc:creator>
  <cp:lastModifiedBy>Bnj4 Riveros</cp:lastModifiedBy>
  <cp:revision>335</cp:revision>
  <dcterms:created xsi:type="dcterms:W3CDTF">2020-01-19T17:40:32Z</dcterms:created>
  <dcterms:modified xsi:type="dcterms:W3CDTF">2026-08-31T04:35:24Z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0x0101006A490DE1D59CF8418FDA5A26334C9654</vt:lpwstr>
  </property>
</Properties>
</file>